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case</c:v>
                </c:pt>
              </c:strCache>
            </c:strRef>
          </c:tx>
          <c:spPr>
            <a:solidFill>
              <a:srgbClr val="C23B3B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Adoption (×0.5 / ×1.5)</c:v>
                  </c:pt>
                  <c:pt idx="1">
                    <c:v>Take rate (2% / 4.7%)</c:v>
                  </c:pt>
                  <c:pt idx="2">
                    <c:v>Reactivated per squad (0.3 / 1.5)</c:v>
                  </c:pt>
                  <c:pt idx="3">
                    <c:v>Student share (30% / 45%)</c:v>
                  </c:pt>
                  <c:pt idx="4">
                    <c:v>Savings uplift (15% / 45%)</c:v>
                  </c:pt>
                  <c:pt idx="5">
                    <c:v>Partner redemption (10% / 30%)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-10.8</c:v>
                </c:pt>
                <c:pt idx="1">
                  <c:v>-6.1</c:v>
                </c:pt>
                <c:pt idx="2">
                  <c:v>-6.1</c:v>
                </c:pt>
                <c:pt idx="3">
                  <c:v>-5.4</c:v>
                </c:pt>
                <c:pt idx="4">
                  <c:v>-3.6</c:v>
                </c:pt>
                <c:pt idx="5">
                  <c:v>-3.2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case</c:v>
                </c:pt>
              </c:strCache>
            </c:strRef>
          </c:tx>
          <c:spPr>
            <a:solidFill>
              <a:srgbClr val="1E7F52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Adoption (×0.5 / ×1.5)</c:v>
                  </c:pt>
                  <c:pt idx="1">
                    <c:v>Take rate (2% / 4.7%)</c:v>
                  </c:pt>
                  <c:pt idx="2">
                    <c:v>Reactivated per squad (0.3 / 1.5)</c:v>
                  </c:pt>
                  <c:pt idx="3">
                    <c:v>Student share (30% / 45%)</c:v>
                  </c:pt>
                  <c:pt idx="4">
                    <c:v>Savings uplift (15% / 45%)</c:v>
                  </c:pt>
                  <c:pt idx="5">
                    <c:v>Partner redemption (10% / 30%)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10.8</c:v>
                </c:pt>
                <c:pt idx="1">
                  <c:v>10.4</c:v>
                </c:pt>
                <c:pt idx="2">
                  <c:v>4.4</c:v>
                </c:pt>
                <c:pt idx="3">
                  <c:v>2.7</c:v>
                </c:pt>
                <c:pt idx="4">
                  <c:v>3.6</c:v>
                </c:pt>
                <c:pt idx="5">
                  <c:v>3.2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b="0" i="0" strike="noStrike" sz="85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123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-1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1–2★ reviews (n = 408)</c:v>
                </c:pt>
              </c:strCache>
            </c:strRef>
          </c:tx>
          <c:spPr>
            <a:solidFill>
              <a:srgbClr val="C23B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F123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Withdrawal / selling</c:v>
                  </c:pt>
                  <c:pt idx="1">
                    <c:v>Got back less (GST, spread, charges)</c:v>
                  </c:pt>
                  <c:pt idx="2">
                    <c:v>Trust / fraud fear</c:v>
                  </c:pt>
                  <c:pt idx="3">
                    <c:v>Balance / gold price / returns</c:v>
                  </c:pt>
                  <c:pt idx="4">
                    <c:v>Customer support</c:v>
                  </c:pt>
                  <c:pt idx="5">
                    <c:v>Names a goal or purpose (upper bound)</c:v>
                  </c:pt>
                  <c:pt idx="6">
                    <c:v>AutoPay / unexpected debits</c:v>
                  </c:pt>
                  <c:pt idx="7">
                    <c:v>Spins / rewards</c:v>
                  </c:pt>
                  <c:pt idx="8">
                    <c:v>Notifications / spam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</c:v>
                </c:pt>
                <c:pt idx="1">
                  <c:v>32</c:v>
                </c:pt>
                <c:pt idx="2">
                  <c:v>28</c:v>
                </c:pt>
                <c:pt idx="3">
                  <c:v>15</c:v>
                </c:pt>
                <c:pt idx="4">
                  <c:v>12</c:v>
                </c:pt>
                <c:pt idx="5">
                  <c:v>5</c:v>
                </c:pt>
                <c:pt idx="6">
                  <c:v>4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4–5★ reviews (n = 263)</c:v>
                </c:pt>
              </c:strCache>
            </c:strRef>
          </c:tx>
          <c:spPr>
            <a:solidFill>
              <a:srgbClr val="9A7F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F123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Withdrawal / selling</c:v>
                  </c:pt>
                  <c:pt idx="1">
                    <c:v>Got back less (GST, spread, charges)</c:v>
                  </c:pt>
                  <c:pt idx="2">
                    <c:v>Trust / fraud fear</c:v>
                  </c:pt>
                  <c:pt idx="3">
                    <c:v>Balance / gold price / returns</c:v>
                  </c:pt>
                  <c:pt idx="4">
                    <c:v>Customer support</c:v>
                  </c:pt>
                  <c:pt idx="5">
                    <c:v>Names a goal or purpose (upper bound)</c:v>
                  </c:pt>
                  <c:pt idx="6">
                    <c:v>AutoPay / unexpected debits</c:v>
                  </c:pt>
                  <c:pt idx="7">
                    <c:v>Spins / rewards</c:v>
                  </c:pt>
                  <c:pt idx="8">
                    <c:v>Notifications / spam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0</c:v>
                </c:pt>
                <c:pt idx="5">
                  <c:v>6</c:v>
                </c:pt>
                <c:pt idx="6">
                  <c:v>1</c:v>
                </c:pt>
                <c:pt idx="7">
                  <c:v>1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F123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F123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techcrunch.com/2025/09/18/indian-fintech-jar-turns-profitable-by-helping-millions-save-in-gold/" TargetMode="External"/><Relationship Id="rId2" Type="http://schemas.openxmlformats.org/officeDocument/2006/relationships/hyperlink" Target="https://entrackr.com/news/jar-clocks-rs-208-cr-operating-revenue-in-fy25-turns-profitable-in-h2-10478229" TargetMode="External"/><Relationship Id="rId3" Type="http://schemas.openxmlformats.org/officeDocument/2006/relationships/hyperlink" Target="https://inc42.com/buzz/wealthtech-startup-jar-halves-fy25-loss-to-inr-50-5-cr/" TargetMode="External"/><Relationship Id="rId4" Type="http://schemas.openxmlformats.org/officeDocument/2006/relationships/hyperlink" Target="https://entrackr.com/exclusive/exclusive-jar-raises-small-fresh-funding-from-unitary-fund-12547515" TargetMode="External"/><Relationship Id="rId5" Type="http://schemas.openxmlformats.org/officeDocument/2006/relationships/hyperlink" Target="https://www.deccanchronicle.com/news/digital-gold-savings-app-jar-surpasses-20-million-users-887517" TargetMode="External"/><Relationship Id="rId6" Type="http://schemas.openxmlformats.org/officeDocument/2006/relationships/hyperlink" Target="https://www.tigerfeathers.in/p/explaining-the-meteoric-growth-of" TargetMode="External"/><Relationship Id="rId7" Type="http://schemas.openxmlformats.org/officeDocument/2006/relationships/hyperlink" Target="https://www.myjar.app/" TargetMode="External"/><Relationship Id="rId8" Type="http://schemas.openxmlformats.org/officeDocument/2006/relationships/hyperlink" Target="https://www.medianama.com/2025/11/223-sebis-warning-digital-gold/" TargetMode="External"/><Relationship Id="rId9" Type="http://schemas.openxmlformats.org/officeDocument/2006/relationships/hyperlink" Target="https://www.myjar.app/lending-partners" TargetMode="External"/><Relationship Id="rId10" Type="http://schemas.openxmlformats.org/officeDocument/2006/relationships/hyperlink" Target="https://apps.apple.com/in/app/jar-save-money-in-digital-gold/id1586776687" TargetMode="External"/><Relationship Id="rId11" Type="http://schemas.openxmlformats.org/officeDocument/2006/relationships/hyperlink" Target="https://play.google.com/store/apps/details?id=com.jar.app" TargetMode="External"/><Relationship Id="rId12" Type="http://schemas.openxmlformats.org/officeDocument/2006/relationships/hyperlink" Target="https://apps.apple.com/us/app/jar-savings-goal-tracker/id6741083421" TargetMode="External"/><Relationship Id="rId13" Type="http://schemas.openxmlformats.org/officeDocument/2006/relationships/hyperlink" Target="https://www.businesstoday.in/technology/news/story/paytm-rolls-out-gold-coins-letting-users-earn-digital-gold-on-every-payment-made-504019-2025-11-27" TargetMode="External"/><Relationship Id="rId14" Type="http://schemas.openxmlformats.org/officeDocument/2006/relationships/hyperlink" Target="https://www.phonepe.com/" TargetMode="External"/><Relationship Id="rId15" Type="http://schemas.openxmlformats.org/officeDocument/2006/relationships/hyperlink" Target="https://inc42.com/startups/12-new-age-investment-platforms-fuelling-indias-digital-gold-rush/" TargetMode="External"/><Relationship Id="rId16" Type="http://schemas.openxmlformats.org/officeDocument/2006/relationships/hyperlink" Target="https://indianstartupnews.com/news/spare8-a-micro-investment-app-raises-770k-in-a-pre-seed-round-led-by-2am-vc/" TargetMode="External"/><Relationship Id="rId17" Type="http://schemas.openxmlformats.org/officeDocument/2006/relationships/hyperlink" Target="https://manikarthik.com/blog/jar-vs-fello/" TargetMode="External"/><Relationship Id="rId18" Type="http://schemas.openxmlformats.org/officeDocument/2006/relationships/hyperlink" Target="https://www.medianama.com/2026/09/223-upi-transactions-august-2026/" TargetMode="External"/><Relationship Id="rId19" Type="http://schemas.openxmlformats.org/officeDocument/2006/relationships/hyperlink" Target="https://worldline.com/en-in/home/main-navigation/resources/reports-and-insights/2025/worldline-india-digital-payments-report-1h-2025" TargetMode="External"/><Relationship Id="rId20" Type="http://schemas.openxmlformats.org/officeDocument/2006/relationships/hyperlink" Target="https://www.mintel.com/press-centre/indian-gen-z-financially-savvy-socially-conscious-and-ready-to-travel/" TargetMode="External"/><Relationship Id="rId21" Type="http://schemas.openxmlformats.org/officeDocument/2006/relationships/hyperlink" Target="https://www.outlookmoney.com/personal-finance/gen-z-and-the-money-mindset-why-young-indians-are-rethinking-saving-spending-and-investing" TargetMode="External"/><Relationship Id="rId22" Type="http://schemas.openxmlformats.org/officeDocument/2006/relationships/hyperlink" Target="https://www.businesstoday.in/personal-finance/investment/story/indias-rs315-lakh-crore-gold-stock-could-power-the-economy-heres-how-gen-z-holds-the-key-547509-2026-08-06" TargetMode="External"/><Relationship Id="rId23" Type="http://schemas.openxmlformats.org/officeDocument/2006/relationships/hyperlink" Target="https://papers.ssrn.com/sol3/papers.cfm?abstract_id=1732709" TargetMode="External"/><Relationship Id="rId24" Type="http://schemas.openxmlformats.org/officeDocument/2006/relationships/hyperlink" Target="https://home.uchicago.edu/ourminsky/Goal-Gradient_Illusionary_Goal_Progress.pdf" TargetMode="External"/><Relationship Id="rId25" Type="http://schemas.openxmlformats.org/officeDocument/2006/relationships/hyperlink" Target="https://papers.ssrn.com/sol3/papers.cfm?abstract_id=2339287" TargetMode="External"/><Relationship Id="rId26" Type="http://schemas.openxmlformats.org/officeDocument/2006/relationships/hyperlink" Target="https://investors.duolingo.com/static-files/99006c40-d8cf-41ca-b5b1-c5cb1fa5ba88" TargetMode="External"/><Relationship Id="rId27" Type="http://schemas.openxmlformats.org/officeDocument/2006/relationships/hyperlink" Target="https://frequentmiler.com/60-retailers-where-acorns-found-money-offers-the-highest-cashback/" TargetMode="External"/><Relationship Id="rId28" Type="http://schemas.openxmlformats.org/officeDocument/2006/relationships/hyperlink" Target="https://monzo.com/blog/2023/02/15/using-topic-modelling-to-understand-customer-saving-goals" TargetMode="External"/><Relationship Id="rId29" Type="http://schemas.openxmlformats.org/officeDocument/2006/relationships/hyperlink" Target="https://play.google.com/store/apps/details?id=com.jar.app" TargetMode="External"/><Relationship Id="rId30" Type="http://schemas.openxmlformats.org/officeDocument/2006/relationships/hyperlink" Target="https://blog.oropocket.com/digital-gold-charges-in-india-explained-spreads-gst-storage-and-selling-fees/" TargetMode="External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430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CASEBLITZ 2026  ·  RECOMMENDATION MEMO TO JAR LEADERSHIP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rupee a job.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517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C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Jar's silent savers into active users, without breaking the saving habit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94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Jars with Squads, Monday Brand Boosts and a Sunday Wrap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HAVOC  ·  CV Raman University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75854" y="2011680"/>
            <a:ext cx="736092" cy="230429"/>
          </a:xfrm>
          <a:prstGeom prst="roundRect">
            <a:avLst>
              <a:gd name="adj" fmla="val 15873"/>
            </a:avLst>
          </a:prstGeom>
          <a:solidFill>
            <a:srgbClr val="DCCFF0"/>
          </a:solidFill>
          <a:ln w="12700">
            <a:solidFill>
              <a:srgbClr val="DCCF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2293315"/>
            <a:ext cx="1051560" cy="2278685"/>
          </a:xfrm>
          <a:prstGeom prst="roundRect">
            <a:avLst>
              <a:gd name="adj" fmla="val 15652"/>
            </a:avLst>
          </a:prstGeom>
          <a:solidFill>
            <a:srgbClr val="4A2A85"/>
          </a:solidFill>
          <a:ln w="19050">
            <a:solidFill>
              <a:srgbClr val="DCCF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72984" y="3259141"/>
            <a:ext cx="941832" cy="1257995"/>
          </a:xfrm>
          <a:prstGeom prst="roundRect">
            <a:avLst>
              <a:gd name="adj" fmla="val 13592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4709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Rishikesh trip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4983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347454" y="2011680"/>
            <a:ext cx="736092" cy="230429"/>
          </a:xfrm>
          <a:prstGeom prst="roundRect">
            <a:avLst>
              <a:gd name="adj" fmla="val 15873"/>
            </a:avLst>
          </a:prstGeom>
          <a:solidFill>
            <a:srgbClr val="DCCFF0"/>
          </a:solidFill>
          <a:ln w="12700">
            <a:solidFill>
              <a:srgbClr val="DCCF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89720" y="2293315"/>
            <a:ext cx="1051560" cy="2278685"/>
          </a:xfrm>
          <a:prstGeom prst="roundRect">
            <a:avLst>
              <a:gd name="adj" fmla="val 15652"/>
            </a:avLst>
          </a:prstGeom>
          <a:solidFill>
            <a:srgbClr val="4A2A85"/>
          </a:solidFill>
          <a:ln w="19050">
            <a:solidFill>
              <a:srgbClr val="DCCF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44584" y="4039966"/>
            <a:ext cx="941832" cy="477170"/>
          </a:xfrm>
          <a:prstGeom prst="roundRect">
            <a:avLst>
              <a:gd name="adj" fmla="val 26828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06840" y="4709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phone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4983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719054" y="2011680"/>
            <a:ext cx="736092" cy="230429"/>
          </a:xfrm>
          <a:prstGeom prst="roundRect">
            <a:avLst>
              <a:gd name="adj" fmla="val 15873"/>
            </a:avLst>
          </a:prstGeom>
          <a:solidFill>
            <a:srgbClr val="DCCFF0"/>
          </a:solidFill>
          <a:ln w="12700">
            <a:solidFill>
              <a:srgbClr val="DCCF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61320" y="2293315"/>
            <a:ext cx="1051560" cy="2278685"/>
          </a:xfrm>
          <a:prstGeom prst="roundRect">
            <a:avLst>
              <a:gd name="adj" fmla="val 15652"/>
            </a:avLst>
          </a:prstGeom>
          <a:solidFill>
            <a:srgbClr val="4A2A85"/>
          </a:solidFill>
          <a:ln w="19050">
            <a:solidFill>
              <a:srgbClr val="DCCF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16184" y="2673523"/>
            <a:ext cx="941832" cy="1843613"/>
          </a:xfrm>
          <a:prstGeom prst="roundRect">
            <a:avLst>
              <a:gd name="adj" fmla="val 13592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78440" y="4709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 Jar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378440" y="4983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rupee a job: Goal Jars give students 2–3 genuine reasons a week to open Jar, while saving stays 100% automatic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IN ONE LINE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5544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automated every decision except the one it doesn't want users to make. Today the only meaningful in-app action is to withdraw.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593592" cy="3383280"/>
          </a:xfrm>
          <a:prstGeom prst="roundRect">
            <a:avLst>
              <a:gd name="adj" fmla="val 2162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560320"/>
            <a:ext cx="457200" cy="457200"/>
          </a:xfrm>
          <a:prstGeom prst="ellipse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67462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8016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154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~12.5%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35M registered users save in a given month [D]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0690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delivered outside the app: round-off in the UPI app, silent AutoPay debit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shown in grams: ₹3 buys &lt;0.3 mg; gold dips trigger the ostrich effect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goal, no squad, no decision: the only action left is “sell”, the topic of 56% of detailed 1–2★ Play Store reviews [S29]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83964" y="2377440"/>
            <a:ext cx="3593592" cy="3383280"/>
          </a:xfrm>
          <a:prstGeom prst="roundRect">
            <a:avLst>
              <a:gd name="adj" fmla="val 2162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12564" y="2560320"/>
            <a:ext cx="457200" cy="457200"/>
          </a:xfrm>
          <a:prstGeom prst="ellipse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67462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106924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512564" y="3154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9" name="Text 15"/>
          <p:cNvSpPr txBox="1"/>
          <p:nvPr/>
        </p:nvSpPr>
        <p:spPr>
          <a:xfrm>
            <a:off x="4512564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steps added to the saving path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4512564" y="40690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Jars: split gold into named goals; the idle balance becomes a head start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Jars: friends save toward a shared trip, with no pooled money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Brand Boosts + Sunday Wrap create 2–3 meaningful opens a week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10728" y="2377440"/>
            <a:ext cx="3593592" cy="3383280"/>
          </a:xfrm>
          <a:prstGeom prst="roundRect">
            <a:avLst>
              <a:gd name="adj" fmla="val 2162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339328" y="2560320"/>
            <a:ext cx="457200" cy="457200"/>
          </a:xfrm>
          <a:prstGeom prst="ellipse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674620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933688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8339328" y="3154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₹8.5 Cr</a:t>
            </a:r>
            <a:endParaRPr lang="en-US" sz="3200" dirty="0"/>
          </a:p>
        </p:txBody>
      </p:sp>
      <p:sp>
        <p:nvSpPr>
          <p:cNvPr id="26" name="Text 21"/>
          <p:cNvSpPr txBox="1"/>
          <p:nvPr/>
        </p:nvSpPr>
        <p:spPr>
          <a:xfrm>
            <a:off x="8339328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3-yr incremental net (base) · 52% ROI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8339328" y="40690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~20 months; LTV/CAC 3.8×; break-even at 21% adoption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~₹25 Cr/yr of student margin as payment apps copy the gold-on-every-payment mechanic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Star: Weekly Goal-Engaged Savers, 210k by month 12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457200" y="5870448"/>
            <a:ext cx="11247120" cy="438912"/>
          </a:xfrm>
          <a:prstGeom prst="roundRect">
            <a:avLst>
              <a:gd name="adj" fmla="val 16667"/>
            </a:avLst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85800" y="58704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</a:t>
            </a:r>
            <a:pPr indent="0" marL="0">
              <a:buNone/>
            </a:pPr>
            <a:r>
              <a:rPr lang="en-US" sz="12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 8-week MVP + an 80-campus pilot. ≤₹1.6 Cr at risk; hard go/kill gates on engagement and auto-save volume.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457200" y="6400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[S] sourced · [D] derived from sourced data · [A] assumed; every assumption is listed in Appendix A1. Sources S1–S30 in Appendix A5. Validation plan in A6; Play Store review analysis (n = 6,000) in A7.</a:t>
            </a:r>
            <a:endParaRPr lang="en-US" sz="800" dirty="0"/>
          </a:p>
        </p:txBody>
      </p:sp>
      <p:sp>
        <p:nvSpPr>
          <p:cNvPr id="31" name="Text 26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RESEARCH &amp; PROBLEM DIAGNOSIS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reason to open Jar: nothing visibly changes, nothing needs deciding and the savings have no purpose. Withdrawing is the only real action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7269480" cy="457200"/>
          </a:xfrm>
          <a:prstGeom prst="roundRect">
            <a:avLst>
              <a:gd name="adj" fmla="val 16000"/>
            </a:avLst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81328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passive saver have no reason to open the app?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91940" y="1938528"/>
            <a:ext cx="0" cy="164592"/>
          </a:xfrm>
          <a:prstGeom prst="line">
            <a:avLst/>
          </a:prstGeom>
          <a:noFill/>
          <a:ln w="19050">
            <a:solidFill>
              <a:srgbClr val="9A7F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27632" y="2103120"/>
            <a:ext cx="4928616" cy="0"/>
          </a:xfrm>
          <a:prstGeom prst="line">
            <a:avLst/>
          </a:prstGeom>
          <a:noFill/>
          <a:ln w="19050">
            <a:solidFill>
              <a:srgbClr val="9A7F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27632" y="2103120"/>
            <a:ext cx="0" cy="137160"/>
          </a:xfrm>
          <a:prstGeom prst="line">
            <a:avLst/>
          </a:prstGeom>
          <a:noFill/>
          <a:ln w="19050">
            <a:solidFill>
              <a:srgbClr val="9A7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0280"/>
            <a:ext cx="2340864" cy="4023360"/>
          </a:xfrm>
          <a:prstGeom prst="roundRect">
            <a:avLst>
              <a:gd name="adj" fmla="val 3125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359152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3172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salient changes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2971800"/>
            <a:ext cx="212140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035808"/>
            <a:ext cx="19385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 Value lives outside the app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Round-off happens in the UPI app; AutoPay debits silently; gold is credited with no moment [S7]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069080"/>
            <a:ext cx="212140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4133088"/>
            <a:ext cx="19385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Wrong unit of progress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 buys &lt;0.3 mg of gold [A: gold &gt;₹10k/g]; grams mean nothing to a 20-year-old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5166360"/>
            <a:ext cx="212140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5230368"/>
            <a:ext cx="19385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 Bad news gets avoided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Ostrich effect: investors log in less after losses [S25]; gold dips suppress opens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91940" y="2103120"/>
            <a:ext cx="0" cy="137160"/>
          </a:xfrm>
          <a:prstGeom prst="line">
            <a:avLst/>
          </a:prstGeom>
          <a:noFill/>
          <a:ln w="19050">
            <a:solidFill>
              <a:srgbClr val="9A7F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1508" y="2240280"/>
            <a:ext cx="2340864" cy="4023360"/>
          </a:xfrm>
          <a:prstGeom prst="roundRect">
            <a:avLst>
              <a:gd name="adj" fmla="val 3125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58668" y="2359152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58668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515868" y="233172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do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31236" y="2971800"/>
            <a:ext cx="212140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22676" y="3035808"/>
            <a:ext cx="19385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 Automation removed decisions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design, saving needs zero input after setup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31236" y="4069080"/>
            <a:ext cx="212140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122676" y="4133088"/>
            <a:ext cx="19385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The one high-value action destroys value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Withdraw/sell is the only consequential in-app decision left; it is the #1 topic in reviews (32%) [S29]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31236" y="5166360"/>
            <a:ext cx="212140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122676" y="5230368"/>
            <a:ext cx="19385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Low-value actions decay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Spins already exist, yet only 1% of reviews mention them; Fello's prize model pivoted [S17][S29]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56248" y="2103120"/>
            <a:ext cx="0" cy="137160"/>
          </a:xfrm>
          <a:prstGeom prst="line">
            <a:avLst/>
          </a:prstGeom>
          <a:noFill/>
          <a:ln w="19050">
            <a:solidFill>
              <a:srgbClr val="9A7F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85816" y="2240280"/>
            <a:ext cx="2340864" cy="4023360"/>
          </a:xfrm>
          <a:prstGeom prst="roundRect">
            <a:avLst>
              <a:gd name="adj" fmla="val 3125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22976" y="2359152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22976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980176" y="233172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means anything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95544" y="2971800"/>
            <a:ext cx="212140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86984" y="3035808"/>
            <a:ext cx="19385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 No destination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≤5% of reviews name any goal, yet 81% of Gen Z rank travel as the top priority [S20][S29]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95544" y="4069080"/>
            <a:ext cx="212140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86984" y="4133088"/>
            <a:ext cx="19385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 No social layer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is private, but student goals (trips, fests) are shared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95544" y="5166360"/>
            <a:ext cx="212140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586984" y="5230368"/>
            <a:ext cx="19385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 No goal-gradient pull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accelerates near a visible goal [S24]; Jar shows no goal to approach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955280" y="1481328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38160" y="1600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184708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automated every decision except the one it doesn't want users to make: withdraw.</a:t>
            </a:r>
            <a:endParaRPr lang="en-US" sz="1450" dirty="0"/>
          </a:p>
        </p:txBody>
      </p:sp>
      <p:sp>
        <p:nvSpPr>
          <p:cNvPr id="44" name="Text 42"/>
          <p:cNvSpPr txBox="1"/>
          <p:nvPr/>
        </p:nvSpPr>
        <p:spPr>
          <a:xfrm>
            <a:off x="8138160" y="25603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opening the app and growing savings pull in opposite directions. The fix is decisions that grow in value as the balance grows.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955280" y="34290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92440" y="34930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2200" dirty="0"/>
          </a:p>
        </p:txBody>
      </p:sp>
      <p:sp>
        <p:nvSpPr>
          <p:cNvPr id="47" name="Text 45"/>
          <p:cNvSpPr txBox="1"/>
          <p:nvPr/>
        </p:nvSpPr>
        <p:spPr>
          <a:xfrm>
            <a:off x="8092440" y="3904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registered users saved monthly (Mar 2024) [D: S5]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875520" y="34290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012680" y="34930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2200" dirty="0"/>
          </a:p>
        </p:txBody>
      </p:sp>
      <p:sp>
        <p:nvSpPr>
          <p:cNvPr id="50" name="Text 48"/>
          <p:cNvSpPr txBox="1"/>
          <p:nvPr/>
        </p:nvSpPr>
        <p:spPr>
          <a:xfrm>
            <a:off x="10012680" y="3904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detailed 1–2★ reviews are about withdrawing and getting back less (n = 408) [S29]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955280" y="4553712"/>
            <a:ext cx="3749040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E4E0E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138160" y="46268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NOT</a:t>
            </a:r>
            <a:endParaRPr lang="en-US" sz="1000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48" y="4992624"/>
            <a:ext cx="146304" cy="146304"/>
          </a:xfrm>
          <a:prstGeom prst="rect">
            <a:avLst/>
          </a:prstGeom>
        </p:spPr>
      </p:pic>
      <p:sp>
        <p:nvSpPr>
          <p:cNvPr id="54" name="Text 51"/>
          <p:cNvSpPr txBox="1"/>
          <p:nvPr/>
        </p:nvSpPr>
        <p:spPr>
          <a:xfrm>
            <a:off x="8394192" y="4937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or quality: </a:t>
            </a:r>
            <a:pPr indent="0" marL="0">
              <a:buNone/>
            </a:pPr>
            <a:r>
              <a:rPr lang="en-US" sz="10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4.7★ from 112k ratings [S10]</a:t>
            </a:r>
            <a:endParaRPr lang="en-US" sz="1000" dirty="0"/>
          </a:p>
        </p:txBody>
      </p:sp>
      <p:pic>
        <p:nvPicPr>
          <p:cNvPr id="5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5394960"/>
            <a:ext cx="146304" cy="146304"/>
          </a:xfrm>
          <a:prstGeom prst="rect">
            <a:avLst/>
          </a:prstGeom>
        </p:spPr>
      </p:pic>
      <p:sp>
        <p:nvSpPr>
          <p:cNvPr id="56" name="Text 52"/>
          <p:cNvSpPr txBox="1"/>
          <p:nvPr/>
        </p:nvSpPr>
        <p:spPr>
          <a:xfrm>
            <a:off x="8394192" y="53400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gamification: </a:t>
            </a:r>
            <a:pPr indent="0" marL="0">
              <a:buNone/>
            </a:pPr>
            <a:r>
              <a:rPr lang="en-US" sz="10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spins already exist [S7]</a:t>
            </a:r>
            <a:endParaRPr lang="en-US" sz="1000" dirty="0"/>
          </a:p>
        </p:txBody>
      </p:sp>
      <p:pic>
        <p:nvPicPr>
          <p:cNvPr id="5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5797296"/>
            <a:ext cx="146304" cy="146304"/>
          </a:xfrm>
          <a:prstGeom prst="rect">
            <a:avLst/>
          </a:prstGeom>
        </p:spPr>
      </p:pic>
      <p:sp>
        <p:nvSpPr>
          <p:cNvPr id="58" name="Text 53"/>
          <p:cNvSpPr txBox="1"/>
          <p:nvPr/>
        </p:nvSpPr>
        <p:spPr>
          <a:xfrm>
            <a:off x="8394192" y="57424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dislikes gold: </a:t>
            </a:r>
            <a:pPr indent="0" marL="0">
              <a:buNone/>
            </a:pPr>
            <a:r>
              <a:rPr lang="en-US" sz="10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see it as a digital asset [S22]</a:t>
            </a:r>
            <a:endParaRPr lang="en-US" sz="1000" dirty="0"/>
          </a:p>
        </p:txBody>
      </p:sp>
      <p:sp>
        <p:nvSpPr>
          <p:cNvPr id="59" name="Text 54"/>
          <p:cNvSpPr txBox="1"/>
          <p:nvPr/>
        </p:nvSpPr>
        <p:spPr>
          <a:xfrm>
            <a:off x="457200" y="6400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Deccan Chronicle (Mar 2024): 20M users, 1M txns/day, 22 saves/user-month → 1.36M savers = 6.8% [D]. S7 Jar site · S10 App Store · S13 Paytm Gold Coins · S17 Fello pivot · S20 Mintel · S22 WGC · S24 Kivetz et al. 2006 · S25 Sicherman et al. 2016 · S29 Play Store reviews, 30 Jul–22 Sep 2026 (Appendix A7).</a:t>
            </a:r>
            <a:endParaRPr lang="en-US" sz="800" dirty="0"/>
          </a:p>
        </p:txBody>
      </p:sp>
      <p:sp>
        <p:nvSpPr>
          <p:cNvPr id="60" name="Text 55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WHERE TO PLAY &amp; WHAT TO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Near-goal students are the lever, and Goal Jars beat six alternatives on fit, saving-safety and defensibility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MATTERS MOST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3977640" cy="2743200"/>
          </a:xfrm>
          <a:prstGeom prst="roundRect">
            <a:avLst>
              <a:gd name="adj" fmla="val 1333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57500" y="1828800"/>
            <a:ext cx="0" cy="27432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200400"/>
            <a:ext cx="3977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 rot="16200000">
            <a:off x="-713232" y="3072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potential →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6177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horizon →  (short … long)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188720" y="2103120"/>
            <a:ext cx="685800" cy="685800"/>
          </a:xfrm>
          <a:prstGeom prst="ellipse">
            <a:avLst/>
          </a:prstGeom>
          <a:solidFill>
            <a:srgbClr val="F2B70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47672" y="2148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Near-goal students ★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1–6 mo goals: trip, phone, fest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0" y="3383280"/>
            <a:ext cx="457200" cy="457200"/>
          </a:xfrm>
          <a:prstGeom prst="ellipse">
            <a:avLst/>
          </a:prstGeom>
          <a:solidFill>
            <a:srgbClr val="9A7F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01368" y="33101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Goal-less students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savers → give templates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2834640"/>
            <a:ext cx="457200" cy="457200"/>
          </a:xfrm>
          <a:prstGeom prst="ellipse">
            <a:avLst/>
          </a:prstGeom>
          <a:solidFill>
            <a:srgbClr val="DCCFF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188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Early-career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SIP / insurance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3931920"/>
            <a:ext cx="411480" cy="411480"/>
          </a:xfrm>
          <a:prstGeom prst="ellipse">
            <a:avLst/>
          </a:prstGeom>
          <a:solidFill>
            <a:srgbClr val="E4E0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40480" y="3913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Tier-2/3 adults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Nek, gold loans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347472" cy="347472"/>
          </a:xfrm>
          <a:prstGeom prst="ellipse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5116068"/>
            <a:ext cx="173736" cy="173736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914400" y="50017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1.75M active-saving students</a:t>
            </a:r>
            <a:pPr indent="0" marL="0">
              <a:buNone/>
            </a:pPr>
            <a:r>
              <a:rPr lang="en-US" sz="10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35M [S1] × 40% students [A] × 12.5% active [D]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5458968"/>
            <a:ext cx="347472" cy="347472"/>
          </a:xfrm>
          <a:prstGeom prst="ellipse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5545836"/>
            <a:ext cx="173736" cy="17373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14400" y="543153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of Gen Z rank travel most important</a:t>
            </a:r>
            <a:pPr indent="0" marL="0">
              <a:buNone/>
            </a:pPr>
            <a:r>
              <a:rPr lang="en-US" sz="10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[S20]: short, social, concrete goals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7200" y="5888736"/>
            <a:ext cx="347472" cy="347472"/>
          </a:xfrm>
          <a:prstGeom prst="ellipse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5975604"/>
            <a:ext cx="173736" cy="17373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14400" y="58613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now gives gold on every payment</a:t>
            </a:r>
            <a:pPr indent="0" marL="0">
              <a:buNone/>
            </a:pPr>
            <a:r>
              <a:rPr lang="en-US" sz="10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[S13]: Jar's moat must move from mechanic to meaning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5303520" y="1463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OPTIONS SCORED (1 = poor, 5 = best)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783080"/>
          <a:ext cx="6400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566928"/>
                <a:gridCol w="676656"/>
                <a:gridCol w="658368"/>
                <a:gridCol w="676656"/>
                <a:gridCol w="585216"/>
                <a:gridCol w="731520"/>
                <a:gridCol w="44805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to diagnosis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Saving-safe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/30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Goal Jars + Squad Jars  ·  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7F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C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7F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Brand Boosts  ·  LEVER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7F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C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7F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7F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7F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Sunday Wrap  ·  LEVER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C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7F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C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Streaks + campus leagues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C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7F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7F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F5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Campus gold-cashback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C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C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F5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 Bigger prize games / spins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7F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C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F5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F5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7F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F5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F5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G. Gold+ leasing yield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F5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F5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F5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3"/>
          <p:cNvSpPr/>
          <p:nvPr/>
        </p:nvSpPr>
        <p:spPr>
          <a:xfrm>
            <a:off x="5303520" y="5166360"/>
            <a:ext cx="6400800" cy="1097280"/>
          </a:xfrm>
          <a:prstGeom prst="roundRect">
            <a:avLst>
              <a:gd name="adj" fmla="val 6667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486400" y="5230368"/>
            <a:ext cx="6080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others lose  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on automatic saving are unearned, so they're hollow (Duolingo works because users act [S26]).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E/F: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copied (Paytm Gold Coins [S13]) or already in Jar (spins); Fello's prize economics failed [S17].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Gullak already offers it [S15]; it raises regulatory exposure after SEBI's Nov-2025 advisory [S8] and creates no weekly reason to open.</a:t>
            </a:r>
            <a:endParaRPr lang="en-US" sz="950" dirty="0"/>
          </a:p>
        </p:txBody>
      </p:sp>
      <p:sp>
        <p:nvSpPr>
          <p:cNvPr id="31" name="Text 25"/>
          <p:cNvSpPr txBox="1"/>
          <p:nvPr/>
        </p:nvSpPr>
        <p:spPr>
          <a:xfrm>
            <a:off x="457200" y="6400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team judgment against the Slide 2 diagnosis; "Saving-safe" = no added friction or risk to automatic saving; "Defensible" = hard for PhonePe/GPay/Paytm to copy. S1 TechCrunch · S8 SEBI advisory · S13 Paytm · S15 Inc42 · S17 Fello · S20 Mintel · S26 Duolingo.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STRATEGIC RECOMMENDATION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Goal Jars with Squads, boosted by brands and recapped every Sunday, adding zero steps to saving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Goal Jars + Squads (core)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167128" cy="4526280"/>
          </a:xfrm>
          <a:prstGeom prst="roundRect">
            <a:avLst>
              <a:gd name="adj" fmla="val 11814"/>
            </a:avLst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07208" y="144475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Monday Boost Drop (lever)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07208" y="1783080"/>
            <a:ext cx="2167128" cy="4526280"/>
          </a:xfrm>
          <a:prstGeom prst="roundRect">
            <a:avLst>
              <a:gd name="adj" fmla="val 11814"/>
            </a:avLst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57216" y="144475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Sunday Wrap (lever)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57216" y="1783080"/>
            <a:ext cx="2167128" cy="4526280"/>
          </a:xfrm>
          <a:prstGeom prst="roundRect">
            <a:avLst>
              <a:gd name="adj" fmla="val 11814"/>
            </a:avLst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496" y="1865376"/>
            <a:ext cx="2002536" cy="4361688"/>
          </a:xfrm>
          <a:prstGeom prst="roundRect">
            <a:avLst>
              <a:gd name="adj" fmla="val 100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0724" y="1929384"/>
            <a:ext cx="640080" cy="91440"/>
          </a:xfrm>
          <a:prstGeom prst="roundRect">
            <a:avLst>
              <a:gd name="adj" fmla="val 50000"/>
            </a:avLst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Jars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" y="2505456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" y="25786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Rishikesh trip · Squad of 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0664" y="2852928"/>
            <a:ext cx="1600200" cy="146304"/>
          </a:xfrm>
          <a:prstGeom prst="roundRect">
            <a:avLst>
              <a:gd name="adj" fmla="val 50000"/>
            </a:avLst>
          </a:prstGeom>
          <a:solidFill>
            <a:srgbClr val="E4E0EC"/>
          </a:solidFill>
          <a:ln w="12700">
            <a:solidFill>
              <a:srgbClr val="E4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" y="2852928"/>
            <a:ext cx="928116" cy="14630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" y="30540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 ·  ₹2,320 of ₹4,000 · 1 wk ahead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9224" y="3438144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" y="35112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phone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" y="3785616"/>
            <a:ext cx="1600200" cy="146304"/>
          </a:xfrm>
          <a:prstGeom prst="roundRect">
            <a:avLst>
              <a:gd name="adj" fmla="val 50000"/>
            </a:avLst>
          </a:prstGeom>
          <a:solidFill>
            <a:srgbClr val="E4E0EC"/>
          </a:solidFill>
          <a:ln w="12700">
            <a:solidFill>
              <a:srgbClr val="E4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" y="3785616"/>
            <a:ext cx="352044" cy="14630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664" y="398678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 ·  ₹3,300 of ₹15,000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" y="438912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CCF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0664" y="4480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 Jar (long-term)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₹1,850 in 24K gold · untouched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" y="5157216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" y="51572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jar  (12 templates)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76656" y="5596128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balance seeds the first jar → 30% head start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89504" y="1865376"/>
            <a:ext cx="2002536" cy="4361688"/>
          </a:xfrm>
          <a:prstGeom prst="roundRect">
            <a:avLst>
              <a:gd name="adj" fmla="val 100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70732" y="1929384"/>
            <a:ext cx="640080" cy="91440"/>
          </a:xfrm>
          <a:prstGeom prst="roundRect">
            <a:avLst>
              <a:gd name="adj" fmla="val 50000"/>
            </a:avLst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026664" y="212140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Drop · Mon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999232" y="2505456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090672" y="257860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partner*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+₹20 gold to your Rishikesh Jar if the squad hits 50% by Sunday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90672" y="3465576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090672" y="346557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boost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999232" y="3986784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090672" y="4059936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partner*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bonus when you redeem this jar for tickets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72384" y="4992624"/>
            <a:ext cx="292608" cy="292608"/>
          </a:xfrm>
          <a:prstGeom prst="ellipse">
            <a:avLst/>
          </a:prstGeom>
          <a:solidFill>
            <a:srgbClr val="5B34A0"/>
          </a:solidFill>
          <a:ln w="12700">
            <a:solidFill>
              <a:srgbClr val="5B34A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072384" y="4992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401568" y="4992624"/>
            <a:ext cx="292608" cy="29260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401568" y="4992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30752" y="4992624"/>
            <a:ext cx="292608" cy="292608"/>
          </a:xfrm>
          <a:prstGeom prst="ellipse">
            <a:avLst/>
          </a:prstGeom>
          <a:solidFill>
            <a:srgbClr val="9A7FD1"/>
          </a:solidFill>
          <a:ln w="12700">
            <a:solidFill>
              <a:srgbClr val="9A7FD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730752" y="4992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059936" y="4992624"/>
            <a:ext cx="292608" cy="292608"/>
          </a:xfrm>
          <a:prstGeom prst="ellipse">
            <a:avLst/>
          </a:prstGeom>
          <a:solidFill>
            <a:srgbClr val="1E7F52"/>
          </a:solidFill>
          <a:ln w="12700">
            <a:solidFill>
              <a:srgbClr val="1E7F5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059936" y="4992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3072384" y="5340096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at 46%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3026664" y="568756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*illustrative partner categories; brand-funded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239512" y="1865376"/>
            <a:ext cx="2002536" cy="4361688"/>
          </a:xfrm>
          <a:prstGeom prst="roundRect">
            <a:avLst>
              <a:gd name="adj" fmla="val 10046"/>
            </a:avLst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20740" y="1929384"/>
            <a:ext cx="640080" cy="91440"/>
          </a:xfrm>
          <a:prstGeom prst="roundRect">
            <a:avLst>
              <a:gd name="adj" fmla="val 50000"/>
            </a:avLst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76672" y="212140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week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376672" y="2459736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₹236</a:t>
            </a:r>
            <a:endParaRPr lang="en-US" sz="3000" dirty="0"/>
          </a:p>
        </p:txBody>
      </p:sp>
      <p:sp>
        <p:nvSpPr>
          <p:cNvPr id="51" name="Text 49"/>
          <p:cNvSpPr txBox="1"/>
          <p:nvPr/>
        </p:nvSpPr>
        <p:spPr>
          <a:xfrm>
            <a:off x="5376672" y="3035808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automatically: 14 chai round-offs + 7 daily saves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376672" y="3557016"/>
            <a:ext cx="1728216" cy="164592"/>
          </a:xfrm>
          <a:prstGeom prst="roundRect">
            <a:avLst>
              <a:gd name="adj" fmla="val 50000"/>
            </a:avLst>
          </a:prstGeom>
          <a:solidFill>
            <a:srgbClr val="4A2A85"/>
          </a:solidFill>
          <a:ln w="12700">
            <a:solidFill>
              <a:srgbClr val="4A2A8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76672" y="3557016"/>
            <a:ext cx="1002365" cy="164592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376672" y="3785616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Rishikesh Jar 58% · 1 week ahead of plan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5376672" y="4197096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DC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−₹12 this week; your saving still moved you +6%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376672" y="4745736"/>
            <a:ext cx="81838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376672" y="4745736"/>
            <a:ext cx="8183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plan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86500" y="4745736"/>
            <a:ext cx="818388" cy="32918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286500" y="4745736"/>
            <a:ext cx="8183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+₹10/day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5376672" y="524865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story ↗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7589520" y="1444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ZERO-FRICTION PROOF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783080"/>
          <a:ext cx="4114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 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Goal Jars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 spend detected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Round-off + daily save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 AutoPay debit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Unchanged: no new mandate or KYC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credited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Tagged to a jar by a one-time 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never opens Goal Jars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experience (opt-in)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" name="Text 60"/>
          <p:cNvSpPr txBox="1"/>
          <p:nvPr/>
        </p:nvSpPr>
        <p:spPr>
          <a:xfrm>
            <a:off x="7589520" y="3675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AND SMART BY DESIGN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7589520" y="4005072"/>
            <a:ext cx="365760" cy="365760"/>
          </a:xfrm>
          <a:prstGeom prst="ellipse">
            <a:avLst/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pic>
        <p:nvPicPr>
          <p:cNvPr id="6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4096512"/>
            <a:ext cx="182880" cy="182880"/>
          </a:xfrm>
          <a:prstGeom prst="rect">
            <a:avLst/>
          </a:prstGeom>
        </p:spPr>
      </p:pic>
      <p:sp>
        <p:nvSpPr>
          <p:cNvPr id="66" name="Text 62"/>
          <p:cNvSpPr txBox="1"/>
          <p:nvPr/>
        </p:nvSpPr>
        <p:spPr>
          <a:xfrm>
            <a:off x="8065008" y="396849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pooled money:</a:t>
            </a:r>
            <a:pPr indent="0" marL="0"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squad member owns their own gold, which avoids 'unauthorized collection' risk [S4]</a:t>
            </a:r>
            <a:endParaRPr lang="en-US" sz="950" dirty="0"/>
          </a:p>
        </p:txBody>
      </p:sp>
      <p:sp>
        <p:nvSpPr>
          <p:cNvPr id="67" name="Shape 63"/>
          <p:cNvSpPr/>
          <p:nvPr/>
        </p:nvSpPr>
        <p:spPr>
          <a:xfrm>
            <a:off x="7589520" y="4462272"/>
            <a:ext cx="365760" cy="365760"/>
          </a:xfrm>
          <a:prstGeom prst="ellipse">
            <a:avLst/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pic>
        <p:nvPicPr>
          <p:cNvPr id="6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4553712"/>
            <a:ext cx="182880" cy="182880"/>
          </a:xfrm>
          <a:prstGeom prst="rect">
            <a:avLst/>
          </a:prstGeom>
        </p:spPr>
      </p:pic>
      <p:sp>
        <p:nvSpPr>
          <p:cNvPr id="69" name="Text 64"/>
          <p:cNvSpPr txBox="1"/>
          <p:nvPr/>
        </p:nvSpPr>
        <p:spPr>
          <a:xfrm>
            <a:off x="8065008" y="442569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Asset-agnostic ledger:</a:t>
            </a:r>
            <a:pPr indent="0" marL="0"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jar can hold gold ETF or fund units if digital gold is restricted [S8]</a:t>
            </a:r>
            <a:endParaRPr lang="en-US" sz="950" dirty="0"/>
          </a:p>
        </p:txBody>
      </p:sp>
      <p:sp>
        <p:nvSpPr>
          <p:cNvPr id="70" name="Shape 65"/>
          <p:cNvSpPr/>
          <p:nvPr/>
        </p:nvSpPr>
        <p:spPr>
          <a:xfrm>
            <a:off x="7589520" y="4919472"/>
            <a:ext cx="365760" cy="365760"/>
          </a:xfrm>
          <a:prstGeom prst="ellipse">
            <a:avLst/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pic>
        <p:nvPicPr>
          <p:cNvPr id="7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010912"/>
            <a:ext cx="182880" cy="182880"/>
          </a:xfrm>
          <a:prstGeom prst="rect">
            <a:avLst/>
          </a:prstGeom>
        </p:spPr>
      </p:pic>
      <p:sp>
        <p:nvSpPr>
          <p:cNvPr id="72" name="Text 66"/>
          <p:cNvSpPr txBox="1"/>
          <p:nvPr/>
        </p:nvSpPr>
        <p:spPr>
          <a:xfrm>
            <a:off x="8065008" y="488289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 Jar partition</a:t>
            </a:r>
            <a:pPr indent="0" marL="0"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protects long-term savings (partitioning +72% savings [S23])</a:t>
            </a:r>
            <a:endParaRPr lang="en-US" sz="950" dirty="0"/>
          </a:p>
        </p:txBody>
      </p:sp>
      <p:sp>
        <p:nvSpPr>
          <p:cNvPr id="73" name="Shape 67"/>
          <p:cNvSpPr/>
          <p:nvPr/>
        </p:nvSpPr>
        <p:spPr>
          <a:xfrm>
            <a:off x="7589520" y="5376672"/>
            <a:ext cx="365760" cy="365760"/>
          </a:xfrm>
          <a:prstGeom prst="ellipse">
            <a:avLst/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pic>
        <p:nvPicPr>
          <p:cNvPr id="7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5468112"/>
            <a:ext cx="182880" cy="182880"/>
          </a:xfrm>
          <a:prstGeom prst="rect">
            <a:avLst/>
          </a:prstGeom>
        </p:spPr>
      </p:pic>
      <p:sp>
        <p:nvSpPr>
          <p:cNvPr id="75" name="Text 68"/>
          <p:cNvSpPr txBox="1"/>
          <p:nvPr/>
        </p:nvSpPr>
        <p:spPr>
          <a:xfrm>
            <a:off x="8065008" y="534009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Partner-funded boosts</a:t>
            </a:r>
            <a:pPr indent="0" marL="0"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(Acorns model [S27]); Jar subsidy capped at ₹25/user/yr</a:t>
            </a:r>
            <a:endParaRPr lang="en-US" sz="950" dirty="0"/>
          </a:p>
        </p:txBody>
      </p:sp>
      <p:sp>
        <p:nvSpPr>
          <p:cNvPr id="76" name="Shape 69"/>
          <p:cNvSpPr/>
          <p:nvPr/>
        </p:nvSpPr>
        <p:spPr>
          <a:xfrm>
            <a:off x="7589520" y="5833872"/>
            <a:ext cx="365760" cy="365760"/>
          </a:xfrm>
          <a:prstGeom prst="ellipse">
            <a:avLst/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pic>
        <p:nvPicPr>
          <p:cNvPr id="7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5925312"/>
            <a:ext cx="182880" cy="182880"/>
          </a:xfrm>
          <a:prstGeom prst="rect">
            <a:avLst/>
          </a:prstGeom>
        </p:spPr>
      </p:pic>
      <p:sp>
        <p:nvSpPr>
          <p:cNvPr id="78" name="Text 70"/>
          <p:cNvSpPr txBox="1"/>
          <p:nvPr/>
        </p:nvSpPr>
        <p:spPr>
          <a:xfrm>
            <a:off x="8065008" y="579729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most painful moment:</a:t>
            </a:r>
            <a:pPr indent="0" marL="0"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withdrawal, where users meet 3% GST + a 2–5% spread [S30], becomes goal redemption with a partner bonus</a:t>
            </a:r>
            <a:endParaRPr lang="en-US" sz="950" dirty="0"/>
          </a:p>
        </p:txBody>
      </p:sp>
      <p:sp>
        <p:nvSpPr>
          <p:cNvPr id="79" name="Text 71"/>
          <p:cNvSpPr txBox="1"/>
          <p:nvPr/>
        </p:nvSpPr>
        <p:spPr>
          <a:xfrm>
            <a:off x="457200" y="6400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existing Jar features (round-off, daily save, Nek, gifting, insurance); duplicates none. Redemption can route to Nek jewellery or gold gifting. S4 Entrackr · S8 SEBI advisory Nov 2025 · S23 Soman &amp; Cheema 2011 · S27 Acorns Found Money · S30 digital gold charges explainer.</a:t>
            </a:r>
            <a:endParaRPr lang="en-US" sz="800" dirty="0"/>
          </a:p>
        </p:txBody>
      </p:sp>
      <p:sp>
        <p:nvSpPr>
          <p:cNvPr id="80" name="Text 72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USER JOURNEY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opens Jar three times a week because she has decisions to make, not because notifications nag her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36192"/>
            <a:ext cx="548640" cy="548640"/>
          </a:xfrm>
          <a:prstGeom prst="ellipse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1790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Sharma, 20 · 2nd-year B.Com, Indore (tier-2)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UPI payments/mo [A] · ₹480/mo auto-saved (round-offs ~₹180 + ₹10/day) [A] · ₹1,200 idle in Jar · opens Jar ~1×/month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01000" y="1536192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0" y="153619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Rishikesh trip with 3 friends · ₹4,000 each · 12 wks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2860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2860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2860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2860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2860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22860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287000" y="22860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2860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5786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83080" y="2578608"/>
            <a:ext cx="9921240" cy="329184"/>
          </a:xfrm>
          <a:prstGeom prst="roundRect">
            <a:avLst>
              <a:gd name="adj" fmla="val 50000"/>
            </a:avLst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83080" y="2578608"/>
            <a:ext cx="9921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Round-offs + ₹20/day save flow automatically, every day. No open needed.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017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opens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09444" y="3017520"/>
            <a:ext cx="164592" cy="164592"/>
          </a:xfrm>
          <a:prstGeom prst="ellipse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324612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CF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920240" y="3310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Boost Drop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920240" y="36118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drop ritual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+₹20 squad boost (45 s)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money toward the goal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push needed: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ritual; reward expires Sunday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44084" y="3017520"/>
            <a:ext cx="164592" cy="164592"/>
          </a:xfrm>
          <a:prstGeom prst="ellipse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324612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CF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754880" y="3310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Squad moment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754880" y="36118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Kabir added ₹150; date poll open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on dates, +₹50 top-up (2 min)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trip coordination: who's in, who's funded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push needed: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lives here; friends discuss it on WhatsApp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913364" y="3017520"/>
            <a:ext cx="164592" cy="164592"/>
          </a:xfrm>
          <a:prstGeom prst="ellipse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0" y="324612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CF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144000" y="3310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· Sunday Wrap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144000" y="36118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story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₹236 → 58%; keeps plan; shares (1 min)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and pride: ahead of plan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push needed: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near the goal (goal gradient [S24])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35204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opens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forced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51389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→ HABIT → PAYOFF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5440680"/>
            <a:ext cx="6675120" cy="146304"/>
          </a:xfrm>
          <a:prstGeom prst="roundRect">
            <a:avLst>
              <a:gd name="adj" fmla="val 50000"/>
            </a:avLst>
          </a:prstGeom>
          <a:solidFill>
            <a:srgbClr val="E4E0EC"/>
          </a:solidFill>
          <a:ln w="12700">
            <a:solidFill>
              <a:srgbClr val="E4E0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440680"/>
            <a:ext cx="6675120" cy="146304"/>
          </a:xfrm>
          <a:prstGeom prst="roundRect">
            <a:avLst>
              <a:gd name="adj" fmla="val 50000"/>
            </a:avLst>
          </a:prstGeom>
          <a:solidFill>
            <a:srgbClr val="E4E0EC"/>
          </a:solidFill>
          <a:ln w="12700">
            <a:solidFill>
              <a:srgbClr val="E4E0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5440680"/>
            <a:ext cx="6675120" cy="146304"/>
          </a:xfrm>
          <a:prstGeom prst="roundRect">
            <a:avLst>
              <a:gd name="adj" fmla="val 50000"/>
            </a:avLst>
          </a:prstGeom>
          <a:solidFill>
            <a:srgbClr val="E4E0EC"/>
          </a:solidFill>
          <a:ln w="12700">
            <a:solidFill>
              <a:srgbClr val="E4E0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5440680"/>
            <a:ext cx="3871570" cy="14630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50008" y="5404104"/>
            <a:ext cx="219456" cy="219456"/>
          </a:xfrm>
          <a:prstGeom prst="ellipse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7200" y="56692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W1: 30%  </a:t>
            </a:r>
            <a:pPr algn="l" indent="0" marL="0">
              <a:buNone/>
            </a:pPr>
            <a:r>
              <a:rPr lang="en-US" sz="8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jar with idle ₹1,200; invites 3 friends (1 dormant user reactivated)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219042" y="5404104"/>
            <a:ext cx="219456" cy="219456"/>
          </a:xfrm>
          <a:prstGeom prst="ellipse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743200" y="56692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W4: 58%  </a:t>
            </a:r>
            <a:pPr algn="l" indent="0" marL="0">
              <a:buNone/>
            </a:pPr>
            <a:r>
              <a:rPr lang="en-US" sz="8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Rituals set; bumps save ₹10→₹20/day after the Wrap shows she's behind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022592" y="5404104"/>
            <a:ext cx="219456" cy="219456"/>
          </a:xfrm>
          <a:prstGeom prst="ellipse">
            <a:avLst/>
          </a:prstGeom>
          <a:solidFill>
            <a:srgbClr val="1E7F52"/>
          </a:solidFill>
          <a:ln w="12700">
            <a:solidFill>
              <a:srgbClr val="1E7F5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29200" y="56692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W12: 100%  </a:t>
            </a:r>
            <a:pPr algn="r" indent="0" marL="0">
              <a:buNone/>
            </a:pPr>
            <a:r>
              <a:rPr lang="en-US" sz="8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Redeems at partner (+5%), adds trip insurance; next jar in 1 tap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5120640"/>
          <a:ext cx="420624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3317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Forced open (rejected)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3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Jar open (built)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F5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“Gold price changed!” push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7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returns for a decision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to Jar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7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Money, coordination or progress for the user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Dies with notifications 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7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Survives: ritual + social + goal proximity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→ sell (hurts saving)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7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→ top-up (grows saving)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A"/>
                    </a:solidFill>
                  </a:tcPr>
                </a:tc>
              </a:tr>
            </a:tbl>
          </a:graphicData>
        </a:graphic>
      </p:graphicFrame>
      <p:sp>
        <p:nvSpPr>
          <p:cNvPr id="47" name="Text 44"/>
          <p:cNvSpPr txBox="1"/>
          <p:nvPr/>
        </p:nvSpPr>
        <p:spPr>
          <a:xfrm>
            <a:off x="457200" y="6400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numbers are illustrative [A]: round-off ≈ ₹4 avg (uniform 0–9 to the nearest ₹10) × 45 payments; week-4 run-rate ~₹235/wk = ₹20/day + round-offs + boosts + optional top-ups. S24 Kivetz et al. 2006 (goal gradient, endowed progress).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FINANCIAL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returns ₹8.5 Cr net over three years with a ~20-month payback, and a pilot gate caps the downside at ₹1.6 Cr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INCREMENTAL VALUE, BASE CASE (₹ Cr)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3387705"/>
            <a:ext cx="566928" cy="544215"/>
          </a:xfrm>
          <a:prstGeom prst="rect">
            <a:avLst/>
          </a:prstGeom>
          <a:solidFill>
            <a:srgbClr val="5B34A0"/>
          </a:solidFill>
          <a:ln w="12700">
            <a:solidFill>
              <a:srgbClr val="5B34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140817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57784" y="39776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uplift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252728" y="3387705"/>
            <a:ext cx="228600" cy="0"/>
          </a:xfrm>
          <a:prstGeom prst="line">
            <a:avLst/>
          </a:prstGeom>
          <a:noFill/>
          <a:ln w="9525">
            <a:solidFill>
              <a:srgbClr val="9A7FD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481328" y="2903957"/>
            <a:ext cx="566928" cy="483747"/>
          </a:xfrm>
          <a:prstGeom prst="rect">
            <a:avLst/>
          </a:prstGeom>
          <a:solidFill>
            <a:srgbClr val="5B34A0"/>
          </a:solidFill>
          <a:ln w="12700">
            <a:solidFill>
              <a:srgbClr val="5B34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44168" y="2657069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9776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commissions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48256" y="2903957"/>
            <a:ext cx="228600" cy="0"/>
          </a:xfrm>
          <a:prstGeom prst="line">
            <a:avLst/>
          </a:prstGeom>
          <a:noFill/>
          <a:ln w="9525">
            <a:solidFill>
              <a:srgbClr val="9A7FD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276856" y="2722552"/>
            <a:ext cx="566928" cy="181405"/>
          </a:xfrm>
          <a:prstGeom prst="rect">
            <a:avLst/>
          </a:prstGeom>
          <a:solidFill>
            <a:srgbClr val="5B34A0"/>
          </a:solidFill>
          <a:ln w="12700">
            <a:solidFill>
              <a:srgbClr val="5B34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39696" y="2475664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39776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reduction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843784" y="2722552"/>
            <a:ext cx="228600" cy="0"/>
          </a:xfrm>
          <a:prstGeom prst="line">
            <a:avLst/>
          </a:prstGeom>
          <a:noFill/>
          <a:ln w="9525">
            <a:solidFill>
              <a:srgbClr val="9A7FD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072384" y="2064959"/>
            <a:ext cx="566928" cy="657594"/>
          </a:xfrm>
          <a:prstGeom prst="rect">
            <a:avLst/>
          </a:prstGeom>
          <a:solidFill>
            <a:srgbClr val="5B34A0"/>
          </a:solidFill>
          <a:ln w="12700">
            <a:solidFill>
              <a:srgbClr val="5B34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35224" y="1818071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944368" y="39776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Reactivated savers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39312" y="2064959"/>
            <a:ext cx="228600" cy="0"/>
          </a:xfrm>
          <a:prstGeom prst="line">
            <a:avLst/>
          </a:prstGeom>
          <a:noFill/>
          <a:ln w="9525">
            <a:solidFill>
              <a:srgbClr val="9A7FD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867912" y="2057400"/>
            <a:ext cx="566928" cy="1874520"/>
          </a:xfrm>
          <a:prstGeom prst="rect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30752" y="18105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739896" y="39776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434840" y="2057400"/>
            <a:ext cx="228600" cy="0"/>
          </a:xfrm>
          <a:prstGeom prst="line">
            <a:avLst/>
          </a:prstGeom>
          <a:noFill/>
          <a:ln w="9525">
            <a:solidFill>
              <a:srgbClr val="9A7FD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663440" y="2064959"/>
            <a:ext cx="566928" cy="1232043"/>
          </a:xfrm>
          <a:prstGeom prst="rect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26280" y="1818071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−16.3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35424" y="39776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230368" y="3297002"/>
            <a:ext cx="228600" cy="0"/>
          </a:xfrm>
          <a:prstGeom prst="line">
            <a:avLst/>
          </a:prstGeom>
          <a:noFill/>
          <a:ln w="9525">
            <a:solidFill>
              <a:srgbClr val="9A7FD1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458968" y="3289443"/>
            <a:ext cx="566928" cy="642477"/>
          </a:xfrm>
          <a:prstGeom prst="rect">
            <a:avLst/>
          </a:prstGeom>
          <a:solidFill>
            <a:srgbClr val="1E7F52"/>
          </a:solidFill>
          <a:ln w="12700">
            <a:solidFill>
              <a:srgbClr val="1E7F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21808" y="3042555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330952" y="39776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3931920"/>
            <a:ext cx="5669280" cy="0"/>
          </a:xfrm>
          <a:prstGeom prst="line">
            <a:avLst/>
          </a:prstGeom>
          <a:noFill/>
          <a:ln w="12700">
            <a:solidFill>
              <a:srgbClr val="E4E0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4407408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counted: ~₹25 Cr/yr of student margin defended against copycats [D]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14447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CHANGE IN 3-YR NET VS BASE ₹8.5 CR</a:t>
            </a:r>
            <a:endParaRPr lang="en-US" sz="11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6400800" y="169164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ext 33"/>
          <p:cNvSpPr txBox="1"/>
          <p:nvPr/>
        </p:nvSpPr>
        <p:spPr>
          <a:xfrm>
            <a:off x="457200" y="46817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(BASE)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4956048"/>
            <a:ext cx="3657600" cy="237744"/>
          </a:xfrm>
          <a:prstGeom prst="roundRect">
            <a:avLst>
              <a:gd name="adj" fmla="val 15385"/>
            </a:avLst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48640" y="49560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35M registered users [S1]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5230368"/>
            <a:ext cx="3108960" cy="237744"/>
          </a:xfrm>
          <a:prstGeom prst="roundRect">
            <a:avLst>
              <a:gd name="adj" fmla="val 15385"/>
            </a:avLst>
          </a:prstGeom>
          <a:solidFill>
            <a:srgbClr val="5B34A0"/>
          </a:solidFill>
          <a:ln w="12700">
            <a:solidFill>
              <a:srgbClr val="5B34A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8640" y="52303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14M students [A: 40%]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57200" y="5504688"/>
            <a:ext cx="2560320" cy="237744"/>
          </a:xfrm>
          <a:prstGeom prst="roundRect">
            <a:avLst>
              <a:gd name="adj" fmla="val 15385"/>
            </a:avLst>
          </a:prstGeom>
          <a:solidFill>
            <a:srgbClr val="9A7FD1"/>
          </a:solidFill>
          <a:ln w="12700">
            <a:solidFill>
              <a:srgbClr val="9A7FD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48640" y="55046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1.75M active savers, Y1 [D: 12.5%]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5779008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DCCFF0"/>
          </a:solidFill>
          <a:ln w="12700">
            <a:solidFill>
              <a:srgbClr val="DCCFF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48640" y="57790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741k Goal Jar adopters, Y3 [A: 35%]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57200" y="6053328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48640" y="60533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296k savers reactivated, Y3 [A]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4681728"/>
          <a:ext cx="37947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914400"/>
                <a:gridCol w="914400"/>
                <a:gridCol w="91440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4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4A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3-yr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₹3.6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1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₹24.8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₹96.4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3-yr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₹14.5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1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₹16.3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₹18.3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3-yr 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−₹10.9 Cr*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1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₹8.5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₹78.1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1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LTV/CAC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1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Text 44"/>
          <p:cNvSpPr txBox="1"/>
          <p:nvPr/>
        </p:nvSpPr>
        <p:spPr>
          <a:xfrm>
            <a:off x="4572000" y="6099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*Bear stacks every adverse input; the pilot gate stops it at ≤₹1.6 Cr spent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8595360" y="4681728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8686800" y="47274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900" dirty="0"/>
          </a:p>
        </p:txBody>
      </p:sp>
      <p:sp>
        <p:nvSpPr>
          <p:cNvPr id="51" name="Text 47"/>
          <p:cNvSpPr txBox="1"/>
          <p:nvPr/>
        </p:nvSpPr>
        <p:spPr>
          <a:xfrm>
            <a:off x="8641080" y="51114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3-yr ROI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10168128" y="4681728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10259568" y="47274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mo</a:t>
            </a:r>
            <a:endParaRPr lang="en-US" sz="1900" dirty="0"/>
          </a:p>
        </p:txBody>
      </p:sp>
      <p:sp>
        <p:nvSpPr>
          <p:cNvPr id="54" name="Text 50"/>
          <p:cNvSpPr txBox="1"/>
          <p:nvPr/>
        </p:nvSpPr>
        <p:spPr>
          <a:xfrm>
            <a:off x="10213848" y="51114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8595360" y="5504688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8686800" y="55504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3.8×</a:t>
            </a:r>
            <a:endParaRPr lang="en-US" sz="1900" dirty="0"/>
          </a:p>
        </p:txBody>
      </p:sp>
      <p:sp>
        <p:nvSpPr>
          <p:cNvPr id="57" name="Text 53"/>
          <p:cNvSpPr txBox="1"/>
          <p:nvPr/>
        </p:nvSpPr>
        <p:spPr>
          <a:xfrm>
            <a:off x="8641080" y="593445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(₹367 / ₹96)</a:t>
            </a:r>
            <a:endParaRPr lang="en-US" sz="850" dirty="0"/>
          </a:p>
        </p:txBody>
      </p:sp>
      <p:sp>
        <p:nvSpPr>
          <p:cNvPr id="58" name="Shape 54"/>
          <p:cNvSpPr/>
          <p:nvPr/>
        </p:nvSpPr>
        <p:spPr>
          <a:xfrm>
            <a:off x="10168128" y="5504688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10259568" y="55504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900" dirty="0"/>
          </a:p>
        </p:txBody>
      </p:sp>
      <p:sp>
        <p:nvSpPr>
          <p:cNvPr id="60" name="Text 56"/>
          <p:cNvSpPr txBox="1"/>
          <p:nvPr/>
        </p:nvSpPr>
        <p:spPr>
          <a:xfrm>
            <a:off x="10213848" y="593445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Y3 adoption</a:t>
            </a:r>
            <a:endParaRPr lang="en-US" sz="850" dirty="0"/>
          </a:p>
        </p:txBody>
      </p:sp>
      <p:sp>
        <p:nvSpPr>
          <p:cNvPr id="61" name="Text 57"/>
          <p:cNvSpPr txBox="1"/>
          <p:nvPr/>
        </p:nvSpPr>
        <p:spPr>
          <a:xfrm>
            <a:off x="457200" y="6400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35M users [S1]; 40% students [A]; 12.5% active [D: S3, S5]; ₹400/mo saving [D: ~₹2,350 Cr gold GMV ÷ 4.4M savers]; +30% uplift [A: S23 found +72%; haircut &gt;50%]; 3% take [A: below the 4.7% FY25 blended margin, S3]; partner 1.2 goals × 20% × ₹4,000 × 4% [A]; churn 55%→65% survival [A]; costs: build ₹3.0/1.8/1.8 Cr, marketing ₹2.5/2/2 Cr, boosts ₹25/12/8 per adopter [A]. Model: Appendix A1–A2.</a:t>
            </a:r>
            <a:endParaRPr lang="en-US" sz="800" dirty="0"/>
          </a:p>
        </p:txBody>
      </p:sp>
      <p:sp>
        <p:nvSpPr>
          <p:cNvPr id="62" name="Text 58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KEY BUSINESS METRICS &amp; ROLLOUT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North Star, four guardrails and one go/kill gate decide whether Goal Jars scale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047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 ·  Weekly Goal-Engaged Savers (WGES)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DC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active that week AND ≥2 meaningful goal sessions (claim, squad action, re-allocate, top-up, Wrap ≥5 s)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490472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210k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 12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8716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280160" cy="658368"/>
          </a:xfrm>
          <a:prstGeom prst="roundRect">
            <a:avLst>
              <a:gd name="adj" fmla="val 11111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" y="2761488"/>
            <a:ext cx="1133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Adoption: 20% of active students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0" y="2743200"/>
            <a:ext cx="1280160" cy="658368"/>
          </a:xfrm>
          <a:prstGeom prst="roundRect">
            <a:avLst>
              <a:gd name="adj" fmla="val 11111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01952" y="2761488"/>
            <a:ext cx="1133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Endowed start: ≥60% of jars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2743200"/>
            <a:ext cx="1280160" cy="658368"/>
          </a:xfrm>
          <a:prstGeom prst="roundRect">
            <a:avLst>
              <a:gd name="adj" fmla="val 11111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73552" y="2761488"/>
            <a:ext cx="1133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Squads: 40% of jars, ≥2.5 invites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2743200"/>
            <a:ext cx="1280160" cy="658368"/>
          </a:xfrm>
          <a:prstGeom prst="roundRect">
            <a:avLst>
              <a:gd name="adj" fmla="val 11111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5152" y="2761488"/>
            <a:ext cx="1133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claims: ≥50% of adopters/wk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2743200"/>
            <a:ext cx="1280160" cy="658368"/>
          </a:xfrm>
          <a:prstGeom prst="roundRect">
            <a:avLst>
              <a:gd name="adj" fmla="val 11111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16752" y="2761488"/>
            <a:ext cx="1133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opens ≥2.5/wk (base ~0.5 [A])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511296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· must NOT move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67328"/>
            <a:ext cx="162306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352" y="3785616"/>
            <a:ext cx="1476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Round-off / AutoPay opt-out ≤ +0.2pp vs control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71700" y="3767328"/>
            <a:ext cx="162306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44852" y="3785616"/>
            <a:ext cx="1476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₹ per user: non-inferior (−2% margin)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86200" y="3767328"/>
            <a:ext cx="162306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59352" y="3785616"/>
            <a:ext cx="1476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 Jar withdrawals ≤ control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00700" y="3767328"/>
            <a:ext cx="162306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73852" y="3785616"/>
            <a:ext cx="1476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opt-outs &amp; uninstalls ≤ control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535424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791456"/>
            <a:ext cx="1623060" cy="658368"/>
          </a:xfrm>
          <a:prstGeom prst="roundRect">
            <a:avLst>
              <a:gd name="adj" fmla="val 11111"/>
            </a:avLst>
          </a:prstGeom>
          <a:solidFill>
            <a:srgbClr val="E2F3EA"/>
          </a:solidFill>
          <a:ln w="12700">
            <a:solidFill>
              <a:srgbClr val="E2F3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0352" y="4809744"/>
            <a:ext cx="1476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saving per adopter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171700" y="4791456"/>
            <a:ext cx="1623060" cy="658368"/>
          </a:xfrm>
          <a:prstGeom prst="roundRect">
            <a:avLst>
              <a:gd name="adj" fmla="val 11111"/>
            </a:avLst>
          </a:prstGeom>
          <a:solidFill>
            <a:srgbClr val="E2F3EA"/>
          </a:solidFill>
          <a:ln w="12700">
            <a:solidFill>
              <a:srgbClr val="E2F3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44852" y="4809744"/>
            <a:ext cx="1476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 retention 55% → 65%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86200" y="4791456"/>
            <a:ext cx="1623060" cy="658368"/>
          </a:xfrm>
          <a:prstGeom prst="roundRect">
            <a:avLst>
              <a:gd name="adj" fmla="val 11111"/>
            </a:avLst>
          </a:prstGeom>
          <a:solidFill>
            <a:srgbClr val="E2F3EA"/>
          </a:solidFill>
          <a:ln w="12700">
            <a:solidFill>
              <a:srgbClr val="E2F3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59352" y="4809744"/>
            <a:ext cx="1476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≥1.0 reactivated saver per squad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00700" y="4791456"/>
            <a:ext cx="1623060" cy="658368"/>
          </a:xfrm>
          <a:prstGeom prst="roundRect">
            <a:avLst>
              <a:gd name="adj" fmla="val 11111"/>
            </a:avLst>
          </a:prstGeom>
          <a:solidFill>
            <a:srgbClr val="E2F3EA"/>
          </a:solidFill>
          <a:ln w="12700">
            <a:solidFill>
              <a:srgbClr val="E2F3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73852" y="4809744"/>
            <a:ext cx="1476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₹96 · LTV ₹367 · LTV/CAC ≥3×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5577840"/>
            <a:ext cx="6766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CCF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4360" y="5605272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design  </a:t>
            </a:r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Cluster-randomise by campus (squads spill over): 40 treatment vs 40 matched control campuses, 8 weeks. One-sided non-inferiority tests on guardrails. Within treatment, a 3-arm boost test (partner-funded / Jar-funded / none) isolates the boost effect and its cost.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7543800" y="14447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562088" y="1737360"/>
            <a:ext cx="1003554" cy="274320"/>
          </a:xfrm>
          <a:prstGeom prst="roundRect">
            <a:avLst>
              <a:gd name="adj" fmla="val 13333"/>
            </a:avLst>
          </a:prstGeom>
          <a:solidFill>
            <a:srgbClr val="DCCFF0"/>
          </a:solidFill>
          <a:ln w="12700">
            <a:solidFill>
              <a:srgbClr val="DCCF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43800" y="1737360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0–8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602218" y="1737360"/>
            <a:ext cx="1003554" cy="274320"/>
          </a:xfrm>
          <a:prstGeom prst="roundRect">
            <a:avLst>
              <a:gd name="adj" fmla="val 13333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83930" y="1737360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642348" y="1737360"/>
            <a:ext cx="1003554" cy="274320"/>
          </a:xfrm>
          <a:prstGeom prst="roundRect">
            <a:avLst>
              <a:gd name="adj" fmla="val 13333"/>
            </a:avLst>
          </a:prstGeom>
          <a:solidFill>
            <a:srgbClr val="DCCFF0"/>
          </a:solidFill>
          <a:ln w="12700">
            <a:solidFill>
              <a:srgbClr val="DCCF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624060" y="1737360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M5–12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682478" y="1737360"/>
            <a:ext cx="1003554" cy="274320"/>
          </a:xfrm>
          <a:prstGeom prst="roundRect">
            <a:avLst>
              <a:gd name="adj" fmla="val 13333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664190" y="1737360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7543800" y="212140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Build MVP  </a:t>
            </a:r>
            <a:pPr indent="0" marL="0"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jars, squads, Wrap, 3 partners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62088" y="2368296"/>
            <a:ext cx="1003554" cy="164592"/>
          </a:xfrm>
          <a:prstGeom prst="roundRect">
            <a:avLst>
              <a:gd name="adj" fmla="val 50000"/>
            </a:avLst>
          </a:prstGeom>
          <a:solidFill>
            <a:srgbClr val="9A7FD1"/>
          </a:solidFill>
          <a:ln w="12700">
            <a:solidFill>
              <a:srgbClr val="9A7FD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43800" y="263347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Pilot  </a:t>
            </a:r>
            <a:pPr indent="0" marL="0"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80-campus cluster RCT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602218" y="2880360"/>
            <a:ext cx="1003554" cy="164592"/>
          </a:xfrm>
          <a:prstGeom prst="roundRect">
            <a:avLst>
              <a:gd name="adj" fmla="val 50000"/>
            </a:avLst>
          </a:prstGeom>
          <a:solidFill>
            <a:srgbClr val="5B34A0"/>
          </a:solidFill>
          <a:ln w="12700">
            <a:solidFill>
              <a:srgbClr val="5B34A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543800" y="314553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Scale  </a:t>
            </a:r>
            <a:pPr indent="0" marL="0"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students, 10–15 partners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642348" y="3392424"/>
            <a:ext cx="1003554" cy="164592"/>
          </a:xfrm>
          <a:prstGeom prst="roundRect">
            <a:avLst>
              <a:gd name="adj" fmla="val 50000"/>
            </a:avLst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543800" y="365760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Expand  </a:t>
            </a:r>
            <a:pPr indent="0" marL="0"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early-career + SIP/insurance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682478" y="3904488"/>
            <a:ext cx="1003554" cy="164592"/>
          </a:xfrm>
          <a:prstGeom prst="roundRect">
            <a:avLst>
              <a:gd name="adj" fmla="val 50000"/>
            </a:avLst>
          </a:prstGeom>
          <a:solidFill>
            <a:srgbClr val="9A6A00"/>
          </a:solidFill>
          <a:ln w="12700">
            <a:solidFill>
              <a:srgbClr val="9A6A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96044" y="2834640"/>
            <a:ext cx="256032" cy="256032"/>
          </a:xfrm>
          <a:prstGeom prst="diamond">
            <a:avLst/>
          </a:prstGeom>
          <a:solidFill>
            <a:srgbClr val="F2B705"/>
          </a:solidFill>
          <a:ln w="12700">
            <a:solidFill>
              <a:srgbClr val="1F12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43800" y="4206240"/>
            <a:ext cx="4160520" cy="2084832"/>
          </a:xfrm>
          <a:prstGeom prst="roundRect">
            <a:avLst>
              <a:gd name="adj" fmla="val 3509"/>
            </a:avLst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726680" y="42793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KILL GATE · WEEK 16</a:t>
            </a:r>
            <a:endParaRPr lang="en-US" sz="110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4636008"/>
            <a:ext cx="182880" cy="182880"/>
          </a:xfrm>
          <a:prstGeom prst="rect">
            <a:avLst/>
          </a:prstGeom>
        </p:spPr>
      </p:pic>
      <p:sp>
        <p:nvSpPr>
          <p:cNvPr id="59" name="Text 56"/>
          <p:cNvSpPr txBox="1"/>
          <p:nvPr/>
        </p:nvSpPr>
        <p:spPr>
          <a:xfrm>
            <a:off x="8001000" y="4590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Adopters ≥2.0 meaningful opens/week</a:t>
            </a:r>
            <a:endParaRPr lang="en-US" sz="1000" dirty="0"/>
          </a:p>
        </p:txBody>
      </p:sp>
      <p:pic>
        <p:nvPicPr>
          <p:cNvPr id="6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4946904"/>
            <a:ext cx="182880" cy="182880"/>
          </a:xfrm>
          <a:prstGeom prst="rect">
            <a:avLst/>
          </a:prstGeom>
        </p:spPr>
      </p:pic>
      <p:sp>
        <p:nvSpPr>
          <p:cNvPr id="61" name="Text 57"/>
          <p:cNvSpPr txBox="1"/>
          <p:nvPr/>
        </p:nvSpPr>
        <p:spPr>
          <a:xfrm>
            <a:off x="8001000" y="49011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≥12% within 8 weeks</a:t>
            </a:r>
            <a:endParaRPr lang="en-US" sz="1000" dirty="0"/>
          </a:p>
        </p:txBody>
      </p:sp>
      <p:pic>
        <p:nvPicPr>
          <p:cNvPr id="6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5257800"/>
            <a:ext cx="182880" cy="182880"/>
          </a:xfrm>
          <a:prstGeom prst="rect">
            <a:avLst/>
          </a:prstGeom>
        </p:spPr>
      </p:pic>
      <p:sp>
        <p:nvSpPr>
          <p:cNvPr id="63" name="Text 58"/>
          <p:cNvSpPr txBox="1"/>
          <p:nvPr/>
        </p:nvSpPr>
        <p:spPr>
          <a:xfrm>
            <a:off x="8001000" y="5212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volume non-inferior (≥ −2%)</a:t>
            </a:r>
            <a:endParaRPr lang="en-US" sz="1000" dirty="0"/>
          </a:p>
        </p:txBody>
      </p:sp>
      <p:pic>
        <p:nvPicPr>
          <p:cNvPr id="6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5568696"/>
            <a:ext cx="182880" cy="182880"/>
          </a:xfrm>
          <a:prstGeom prst="rect">
            <a:avLst/>
          </a:prstGeom>
        </p:spPr>
      </p:pic>
      <p:sp>
        <p:nvSpPr>
          <p:cNvPr id="65" name="Text 59"/>
          <p:cNvSpPr txBox="1"/>
          <p:nvPr/>
        </p:nvSpPr>
        <p:spPr>
          <a:xfrm>
            <a:off x="8001000" y="55229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Round-off opt-out ≤ +0.2pp vs control</a:t>
            </a:r>
            <a:endParaRPr lang="en-US" sz="1000" dirty="0"/>
          </a:p>
        </p:txBody>
      </p:sp>
      <p:sp>
        <p:nvSpPr>
          <p:cNvPr id="66" name="Text 60"/>
          <p:cNvSpPr txBox="1"/>
          <p:nvPr/>
        </p:nvSpPr>
        <p:spPr>
          <a:xfrm>
            <a:off x="7726680" y="58795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any gate → stop. </a:t>
            </a:r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spend ≈ ₹1.6 Cr [A].</a:t>
            </a:r>
            <a:endParaRPr lang="en-US" sz="1000" dirty="0"/>
          </a:p>
        </p:txBody>
      </p:sp>
      <p:sp>
        <p:nvSpPr>
          <p:cNvPr id="67" name="Text 61"/>
          <p:cNvSpPr txBox="1"/>
          <p:nvPr/>
        </p:nvSpPr>
        <p:spPr>
          <a:xfrm>
            <a:off x="457200" y="6400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marked [A] should be replaced with Jar internal data at kickoff. Targets derive from the Slide 6 base case: 210k WGES = 60% of 350k Y1 adopters.</a:t>
            </a:r>
            <a:endParaRPr lang="en-US" sz="800" dirty="0"/>
          </a:p>
        </p:txBody>
      </p:sp>
      <p:sp>
        <p:nvSpPr>
          <p:cNvPr id="68" name="Text 62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1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C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rupee a job, and students will have a reason to come back for it.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HAVOC  ·  CV Raman University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532620" y="1828800"/>
            <a:ext cx="960120" cy="279806"/>
          </a:xfrm>
          <a:prstGeom prst="roundRect">
            <a:avLst>
              <a:gd name="adj" fmla="val 13072"/>
            </a:avLst>
          </a:prstGeom>
          <a:solidFill>
            <a:srgbClr val="DCCFF0"/>
          </a:solidFill>
          <a:ln w="12700">
            <a:solidFill>
              <a:srgbClr val="DCCF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2170786"/>
            <a:ext cx="1371600" cy="2766974"/>
          </a:xfrm>
          <a:prstGeom prst="roundRect">
            <a:avLst>
              <a:gd name="adj" fmla="val 12000"/>
            </a:avLst>
          </a:prstGeom>
          <a:solidFill>
            <a:srgbClr val="4A2A85"/>
          </a:solidFill>
          <a:ln w="19050">
            <a:solidFill>
              <a:srgbClr val="DCCF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81744" y="2225650"/>
            <a:ext cx="1261872" cy="2657246"/>
          </a:xfrm>
          <a:prstGeom prst="roundRect">
            <a:avLst>
              <a:gd name="adj" fmla="val 10145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9828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reached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 · ASSUMPTIONS REGISTER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assumption, its value and the logic behind it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651760"/>
                <a:gridCol w="2011680"/>
                <a:gridCol w="411480"/>
                <a:gridCol w="58521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(bear / bull)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/ 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users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TechCrunch / Entrackr, FY25 [S1][S2]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share of users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(30 / 45)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statement: students are the “largest user base” → plurality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active saver ratio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Mar-24: 1M txns/day ÷ 22 saves = 1.36M savers / 20M (6.8%) × FY25 txn growth 3.21× ÷ user growth 1.75× [S3][S5]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saver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 vs +221% FY25 transaction growth [S3]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Jar adoption, Y1/Y2/Y3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20/30/35% (10/18/22; 25/40/45)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active-saving students with ≥1 jar; break-even at 21% in Y3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saving per active student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₹400/mo (300 / 500)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~₹2,350 Cr gold GMV (₹2,450 Cr less ~₹100 Cr Nek) ÷ ~4.4M savers ≈ ₹445; students lower [S1][S3]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 uplift from goals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+30% (15 / 45)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Earmarking + partitioning +72% in an Indian field study [S23]; haircut &gt;50% for digital, voluntary 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 take on gold purchases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 (2.5 / 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the 4.7% blended FY25 gross margin incl. Nek: (₹2,447.8 − ₹2,333.6 Cr) ÷ ₹2,447.8 Cr [S3]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 creators / reactivated per 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/ 1.0 (0.5 / 1.5)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squad of 4; ~1 member was dormant or 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Goals/yr · partner redemption · goal size · commission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 · 20% · ₹4,000 · 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student goals; typical Indian travel/e-com affiliate range 3–8%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survival: base vs adopters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 → 65% (60 / 70)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holders re-engage after rewards [S24]; ~5%/mo churn 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Reactivated saver survival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commitment within the 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/ run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₹3.0 / 1.8 / 1.8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FTE × ₹30L loaded in Y1; 6 FTE 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(campus ambassadors, content)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₹2.5 / 2.0 / 2.0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~5% of FY25 ad spend of ₹48.5 Cr [S3]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Jar-funded boosts · variable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 / 12 / 8 · ₹6 per adopter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 fund the rest after the pilot (Acorns model [S27])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maximum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₹1.6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months of the Y1 build budget plus pilot boosts and marketing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 · MODEL DETAIL (₹ CR)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by year, unit economics and scenario definitions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760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822960"/>
                <a:gridCol w="822960"/>
                <a:gridCol w="822960"/>
                <a:gridCol w="8229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Jar adopters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741k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reactivated savers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667k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Revenue: savings uplift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Revenue: partner commissions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Revenue: churn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Revenue: reactivated savers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net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143000"/>
          <a:ext cx="51206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economics (Y1 cohort)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per adopter (marketing + boost subsidy)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margin per adopter per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adopter life (1 ÷ (1 − 65%))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 yrs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 reactivation value per adopter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 per adopter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 / CAC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 run-rate as % of FY25 operating revenue (₹208 Cr)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7315200"/>
                <a:gridCol w="219456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inputs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3-yr 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students; adoption 10/18/22%; ₹300/mo; +15% uplift; 2.5% take; 0.5 reactivated/squad; 10% partner redemption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−₹10.9 Cr (≤₹1.6 Cr after gate)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in A1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₹8.5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 students; adoption 25/40/45%; ₹500/mo; +45% uplift; 4% take; 1.5 reactivated/squad; + early-career from Y2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₹78.1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583680" y="3840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model/jar_goal_jars_model.py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 · COMPETITORS &amp; ANALOGUES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Round-off is being copied; goals, brand funding and user action are what worked elsewhere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2194560"/>
                <a:gridCol w="4206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Round-off?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hook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 for Jar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Paytm [S13]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No; Gold Coins = 1% of every payment (2025)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Rewards at payment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gold-on-every-payment mechanic is already copied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PhonePe [S6][S14]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gold from ₹5; Jar-powered daily savings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 utility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and potential rival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Gullak [S15]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Auto-save gold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Gold+ leasing yield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≠ weekly reason to open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Spare8 [S16]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round-up from ₹1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rewards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($770K pre-seed)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Fello [S17]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Gamified saving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Games + prize pools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Pivoted to advisory: prizes unsustainable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389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 / failed · why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Soman &amp; Cheema 2011 [S23]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labourers: earmarking + 2 envelopes → +72% savings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Worked: labels and partitions create meaning and a barrier to spending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Kivetz et al. 2006 [S24]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Pre-stamped cards complete faster; re-engagement after reward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Worked: endowed progress and the goal gradient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Duolingo [S26]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DAU/MAU 34.7%; 10M+ users on 1-year streaks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 because the user acts; automatic streaks would be hollow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Acorns Found Money [S27]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450+ brands invest 1–10% of purchases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Worked: brand-funded saving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Monzo Pots [S28]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~350k new pots/month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Worked: people want named buckets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Sicherman et al. 2016 [S25]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Investors check less after losses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Risk: design around the ostrich effect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A4 · RISK REGISTER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likelihood, impact and mitigation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05840"/>
                <a:gridCol w="914400"/>
                <a:gridCol w="6035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gold regulation (SEBI advisory, Nov 2025 [S8])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Asset-agnostic jars (gold ETF / fund units via partner); boosts are marketing, never promised returns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Pooled-money / unauthorized collection claims [S4]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pooling: each member owns their own gold; the squad is a shared view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 drain when goals are redeemed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 earns on flows; Forever Jar partition; carry-10%-forward default; next-goal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Reward-cost blowout (Fello precedent [S17])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Partner-funded boosts; Jar subsidy capped ₹25 → ₹8 per adopter per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pressure / privacy in squads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% only; amounts private by default; leave anytime; no money leaderboards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by PhonePe / Paytm / GPay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 network + campus partner density + speed; Jar is PhonePe's gold back-end, so co-opetition is possible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price dip mid-goal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shown in goal units from contributions; price effect shown separately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and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credit cross-sell to students; only insurance at goal checkout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A5 · SOURCES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sources (accessed September 2026)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54864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TechCrunch: Jar turns profitable (Sep 2025)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techcrunch.com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Entrackr: Jar FY25 ₹208 Cr operating revenue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entrackr.com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Inc42: Jar FY25 financials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inc42.com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Entrackr: Unitary Fund round (Sep 2026)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entrackr.com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Deccan Chronicle: Jar 20M users (Mar 2024)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deccanchronicle.com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Tigerfeathers: The rise of Jar (Dec 2024)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tigerfeathers.in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Jar website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myjar.app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MediaNama: SEBI digital gold warning (Nov 2025)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medianama.com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Jar lending partners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myjar.app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Jar on the App Store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apps.apple.com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Jar on Google Play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play.google.com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Unrelated 'Jar' goal-tracker app (other developer)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apps.apple.com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Business Today: Paytm Gold Coins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businesstoday.in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PhonePe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phonepe.com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Inc42: digital gold platforms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inc42.com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26480" y="1143000"/>
            <a:ext cx="54864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Indian Startup News: Spare8 pre-seed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indianstartupnews.com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Jar vs Fello (Fello pivot)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manikarthik.com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MediaNama: UPI August 2026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medianama.com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S19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Worldline India Digital Payments Report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worldline.com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Mintel: Indian Gen Z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mintel.com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Outlook Money: Gen Z money mindset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outlookmoney.com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S22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Business Today: WGC Swarnim Udaan 2047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businesstoday.in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S23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Soman &amp; Cheema (2011), JMR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papers.ssrn.com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S24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Kivetz, Urminsky &amp; Zheng (2006), JMR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home.uchicago.edu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S25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Sicherman et al. (2016), RFS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papers.ssrn.com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S26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Duolingo Q4 FY2024 shareholder letter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investors.duolingo.com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S27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Acorns Found Money partners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frequentmiler.com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S28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Monzo: customer saving goals (Pots)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monzo.com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S29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Jar Google Play reviews (6,000 newest, team analysis)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play.google.com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S30  </a:t>
            </a:r>
            <a:pPr indent="0" marL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OroPocket: digital gold charges (GST, spreads)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blog.oropocket.com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are hyperlinked. Inc42 reports FY25 revenue gross (₹2,447.8 Cr); Jar/Entrackr report ₹208 Cr operating (net). Both are cited as such.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A6 · VALIDATION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3-minute student survey and 8 interviews test the assumptions that move the case most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291840" cy="5120640"/>
          </a:xfrm>
          <a:prstGeom prst="roundRect">
            <a:avLst>
              <a:gd name="adj" fmla="val 2222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741932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1609344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Google Form, ~25 questions, 3 min. Jar users get an extra branch.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0080" y="2578608"/>
            <a:ext cx="384048" cy="384048"/>
          </a:xfrm>
          <a:prstGeom prst="ellipse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2674620"/>
            <a:ext cx="192024" cy="1920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254203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students across 4–5 colleges; metro and tier-2/3 mix (60% of Jar users are outside metros [S1]).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40080" y="3511296"/>
            <a:ext cx="384048" cy="384048"/>
          </a:xfrm>
          <a:prstGeom prst="ellipse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3607308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34747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× 15 min with volunteers from the survey.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40080" y="4443984"/>
            <a:ext cx="384048" cy="384048"/>
          </a:xfrm>
          <a:prstGeom prst="ellipse">
            <a:avLst/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4539996"/>
            <a:ext cx="192024" cy="19202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40740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results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intent overstates behaviour, so intent is halved [A] before it is compared with model inputs.</a:t>
            </a:r>
            <a:endParaRPr lang="en-US" sz="95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53492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prompts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Walk me through your last 3 money-app opens. Why each?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did you handle money on your last group trip?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would bring you to a savings app on a Monday, unprompted?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143000"/>
          <a:ext cx="7726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1874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 (deck assumption)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question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 if… [A]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it fails, we…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C6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insight: opens are only balance checks or withdrawals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reason you opened Jar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≥50% of Jar users say balance or withdraw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Rebuild the diagnosis around the reasons actually given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Near-goal students are the lever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 toward something in the next 6 months?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≥60% name a concrete goal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with goal templates for goal-less savers (S2)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Y1 adoption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use Goal Jars (probably + definitely)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≥40% stated intent (≈20% after halving)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adoption in the model; re-check break-even (21%)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meaningful opens/week, no pushes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frequency; would open with notifications 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≥35% say 2–3×/week AND yes with notifications 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the Sunday Wrap; drop the Monday cadence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Squads drive reactivation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friends would you save with?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≥40% choose 1+ friends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solo Goal Jars first; Squads in Phase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+30% savings uplift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raise your daily saving to hit the goal?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≥30% say 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bear-case uplift (+15%)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₹25/adopter/yr boost 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weekly bonus that makes you check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≥50% say ₹20 or less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partners to fund larger boosts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3"/>
          <p:cNvSpPr txBox="1"/>
          <p:nvPr/>
        </p:nvSpPr>
        <p:spPr>
          <a:xfrm>
            <a:off x="3977640" y="589788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thresholds are team judgment [A]. Survey results replace the matching [A] tags in A1 before the pilot starts. The survey is ready as a Google Form. Early evidence without a survey: Play Store review analysis (A7) supports hypothesis 1.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A7 · VOICE OF THE USER (NO SURVEY NEEDED)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6,000 recent Play Store reviews, withdrawal is what users talk about; goals and spins barely appear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3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DETAILED REVIEWS MENTIONING EACH THEME (%)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09728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62672" y="1170432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662672" y="1691640"/>
            <a:ext cx="117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detailed 1–2★ reviews are about the withdrawal moment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988552" y="109728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061704" y="1170432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≤5%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061704" y="1691640"/>
            <a:ext cx="117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detailed reviews name any goal or purpose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387584" y="109728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60736" y="1170432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10460736" y="1691640"/>
            <a:ext cx="117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spins or rewards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589520" y="265176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3B1C6E"/>
          </a:solidFill>
          <a:ln w="12700">
            <a:solidFill>
              <a:srgbClr val="3B1C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0" y="2724912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is the one moment Jar's value becomes visible, and it arrives as a loss: 3% GST plus a 2–5% spread [S30]. Goal Jars reframe that moment as goal redemption, with a partner bonus offsetting the spread.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589520" y="43891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26680" y="4443984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users' words (Play Store, Aug–Sep 2026)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saved ₹7,300 … when I tried to withdraw my money, I received only ₹6,600”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“Maine isme 11550 jama Keya tha badme nikal te time 10395 he aya”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1ECF9"/>
          </a:solidFill>
          <a:ln w="12700">
            <a:solidFill>
              <a:srgbClr val="F1ECF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55321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1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 </a:t>
            </a:r>
            <a:pPr indent="0" marL="0">
              <a:buNone/>
            </a:pPr>
            <a:r>
              <a:rPr lang="en-US" sz="9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newest Google Play reviews of Jar (30 Jul–22 Sep 2026; the app has 2.0M ratings, 4.7★) [S29]. 80% are 5★ but mostly one-liners (median 2 words); the 684 detailed reviews (8+ words) were keyword-coded in English and Hinglish, with samples checked by hand. </a:t>
            </a:r>
            <a:pPr indent="0" marL="0">
              <a:buNone/>
            </a:pPr>
            <a:r>
              <a:rPr lang="en-US" sz="900" b="1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 </a:t>
            </a:r>
            <a:pPr indent="0" marL="0">
              <a:buNone/>
            </a:pPr>
            <a:r>
              <a:rPr lang="en-US" sz="9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skew towards complaints; not student-only; keyword coding is approximate (goal share is an upper bound). This is directional evidence, not a survey.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Give every rupee a job: Jar Goal Jars</dc:title>
  <dc:subject>PptxGenJS Presentation</dc:subject>
  <dc:creator>PptxGenJS</dc:creator>
  <cp:lastModifiedBy>PptxGenJS</cp:lastModifiedBy>
  <cp:revision>1</cp:revision>
  <dcterms:created xsi:type="dcterms:W3CDTF">2026-09-23T10:47:27Z</dcterms:created>
  <dcterms:modified xsi:type="dcterms:W3CDTF">2026-09-23T10:47:27Z</dcterms:modified>
</cp:coreProperties>
</file>